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8/28 부사장님 지시로 위원회 구성을 준비했습니다. 오늘은 구성·운영안, 보상규정(안), 제1회 개최 세 건의 승인을 요청드립니다.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승인해 주시면 보상규정(안)의 임직원 협의 절차를 진행하고, 제1회 특허심의위원회 일정을 확정하여 안내드리겠습니다.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184708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261518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「발명진흥법」에 따른 직무발명 관리체계 정비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4132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DD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2026. 9. 4.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DD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nt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19385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1389888" y="268833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9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출원·등록 프로세스 재정립을 위한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9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 및 직무발명 보상 기준 보고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7882128" y="2103120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83296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추진 배경 및 법적 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83296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관리 방향의 전환 · 발명진흥법 이행 사항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82128" y="3035808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83296" y="30175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위원회 구성 및 운영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83296" y="33284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개선된 출원·등록 프로세스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82128" y="3968496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83296" y="39502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직무발명 보상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83296" y="42611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· 보상 등급 결정 기준 · 서식 4종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882128" y="4901184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83296" y="48828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제1회 위원회 안건 및 승인 요청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083296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· 운영상 관리 포인트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개요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 및 승인 요청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부사장의 지시에 따라 특허 출원·등록 프로세스 재정립을 위한 특허심의위원회 구성(안)을 보고드립니다.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위원회는 「발명진흥법」에 따른 권리 승계·보상 절차를 사내에서 이행하고, 특허 관리 체계를 상장 기업 수준으로 정비하는 것을 목적으로 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751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331720" y="197510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197510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 — 자사의 특허 출원·등록 프로세스 재정립을 위한 특허심의위원회 구성 지시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52374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237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목적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31720" y="252374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42032" y="252374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제13조·제15조에 따른 권리 승계 및 보상 절차의 사내 이행, 사업 기여도 중심의 발명 선별 체계 확립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307238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07238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범위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331720" y="307238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42032" y="307238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구성·운영(안), 개선된 출원·등록 프로세스, 직무발명 보상규정(안) 및 서식 4종, 제1회 위원회 안건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87705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87705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 인 요 청 사 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8992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출석위원 과반수 찬성으로 의결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43984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43984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08576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지급 기준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· 등급 평가표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73568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73568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방안 및 보상 기준 심의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기한 관리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아이디어 심의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5989320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직무발명 보상규정(안)은 「발명진흥법」 제15조제3항에 따라 확정 전 임직원 협의 절차를 거칩니다.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관리 방향의 전환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기존에는 OFFen의 상품성 향상 및 기술평가를 위해 다수의 특허 등록을 추진해 왔으나, 발명 선별 기준과 보상 기준이 정립되어 있지 않았습니다.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앞으로는 사업 기여도가 높은 발명을 선별하여 집중 지원하고, 보상·연차료·해외 출원까지 일관된 기준으로 관리하고자 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5029200" cy="384048"/>
          </a:xfrm>
          <a:prstGeom prst="rect">
            <a:avLst/>
          </a:prstGeom>
          <a:solidFill>
            <a:srgbClr val="7C8BA1"/>
          </a:solidFill>
          <a:ln w="12700">
            <a:solidFill>
              <a:srgbClr val="7C8BA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(AS-IS)   양(量) 중심의 출원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468880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46888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OFFen 상품성 향상 및 기술평가 목적의 다수 출원 추진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090672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309067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선별 기준 부재 — 사업 기여도와 무관한 출원 혼재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712464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3712464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미정립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334256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15568" y="4334256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및 해외 출원 관리 체계 부재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45352" y="1975104"/>
            <a:ext cx="502920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97510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(TO-BE)   가치 중심의 선별·보상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2468880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246888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기여도가 높은 발명을 선별하여 집중 지원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3090672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09067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정립 (A·B·C 등급제)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5352" y="3712464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3712464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관리 — 등급별 유지·포기 판단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5352" y="4334256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4334256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검토 — 조약우선권 기한 내 의사결정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5138928"/>
            <a:ext cx="10360152" cy="47548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138928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신고부터 보상·해외 출원까지 문서로 증빙되는 절차 확립 → 상장 심사·기술평가·정부 R&amp;D 대응이 가능한 지식재산 관리 체계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833872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특허심의위원회는 발명의 승계·출원 여부와 보상 등급을 함께 의결하여, 선별과 보상이 하나의 절차로 연결되도록 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 및 사내 이행 사항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특허심의위원회는 「발명진흥법」이 사용자에게 요구하는 권리 승계 통지, 정당한 보상, 비밀유지 의무를 사내 절차로 이행하기 위한 기구입니다.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조문별 이행 사항은 다음과 같으며, 관련 서식은 모두 초안 작성을 완료하였습니다.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56816"/>
          <a:ext cx="103601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193792"/>
                <a:gridCol w="301752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   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내용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이행 사항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제12조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완성사실의 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종업원은 직무발명을 완성한 경우 지체 없이 사용자에게 문서로 통지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신고서 제출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제13조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여부의 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규정이 있는 경우 발명 완성 시 권리 승계, 미승계 시 4개월 이내 서면 통지 (시행령 제7조)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위원회 심의 및 결과 통지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제15조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직무발명에 대한 보상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권리 승계 시 정당한 보상, 보상 기준은 종업원과 협의하여 규정으로 정함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보상규정(안) 제정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제19조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비밀유지의 의무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출원할 때까지 발명 내용의 비밀유지 (위반 시 제58조 벌칙)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신고서 서약 · 양도계약 제7조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5212080"/>
            <a:ext cx="10360152" cy="713232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5212080"/>
            <a:ext cx="9921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사전 승계 규정이 있는 경우 권리는 발명을 완성한 때부터 회사에 승계되며, 접수일부터 4개월 이내에 미승계 사실을 통지하지 않으면 승계한 것으로 처리됩니다.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보상에 이의가 있는 경우에는 「발명진흥법」 제17조에 따른 직무발명심의위원회를 별도로 구성하여 심의합니다. (특허심의위원회와 별개 기구)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및 운영 방안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위원회는 대표이사를 포함한 6인으로 구성하며, 연구기획팀이 간사를 맡아 안건 접수·심의 준비·결과 통지를 담당합니다.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수시로 개최하여 발명의 승계·출원 여부와 보상 등급을 함께 의결합니다.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10360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위원 구성 (총 6인)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505456"/>
            <a:ext cx="1604772" cy="786384"/>
          </a:xfrm>
          <a:prstGeom prst="rect">
            <a:avLst/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이성권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65476" y="2505456"/>
            <a:ext cx="1604772" cy="78638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5476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전성학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5476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부사장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416552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16552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최창진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7628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7628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이정민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67628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실장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918704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18704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이태우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18704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669780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69780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배준호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69780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연구원 (간사)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14400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7552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  최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4400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78992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연구기획팀이 안건을 접수·상정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43984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17136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   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443984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08576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973568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  결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73568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38160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재적위원 과반수 출석, 출석위원 과반수 찬성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가부동수인 경우 위원장이 결정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14400" y="5047488"/>
            <a:ext cx="10360152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" y="5047488"/>
            <a:ext cx="9921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역할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직무발명의 승계·출원 여부 의결   ·   보상 등급(A·B·C) 결정   ·   기 보유 지식재산권의 연차료 및 유지·포기 판단   ·   해외 출원 대상 선정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5760720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특허심의위원회는 「발명진흥법」 제17조의 직무발명심의위원회(보상 이의 제기 심의 기구)와는 별개의 사내 의사결정 기구입니다.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개선된 특허 출원·등록 프로세스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신고에서 해외 출원 결정까지 6단계로 표준화하고, 각 단계의 산출물과 기한을 연구기획팀이 관리합니다.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특히 양도계약서 날인 단계를 신설하여, 퇴사 이후의 권리 분쟁 소지를 사전에 차단합니다.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20824"/>
            <a:ext cx="256032" cy="256032"/>
          </a:xfrm>
          <a:prstGeom prst="ellipse">
            <a:avLst/>
          </a:prstGeom>
          <a:solidFill>
            <a:srgbClr val="101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020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95681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 → 심의 → 출원·등록 → 양도계약 → 보상 → 해외 출원 (6단계)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8755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발명신고서 제출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→ 연구기획팀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47345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7462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4777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위원회 심의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7462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6606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대면 발표 15분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등급 결정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23367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3484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799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출원 · 등록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특허법률사무소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(주)차원에 의뢰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99389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9506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821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양도계약 날인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9506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650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일체를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회사로 이전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75411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2843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보상금 지급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95528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출원 ·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등록보상금 지급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51433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1550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78865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해외 출원 결정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71550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0694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이내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14400" y="4261104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" y="42611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148840" y="4261104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331720" y="4261104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· 등급 평가표 · 심의 결과 통지서 · 특허권 양도계약서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14400" y="4773168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14400" y="47731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  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148840" y="4773168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773168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여부 통지 4개월 이내 (제13조) · 해외 출원 12개월 이내 (조약우선권)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14400" y="5285232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2852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유의사항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148840" y="5285232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331720" y="5285232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전까지 발명 내용은 비밀유지 대상이며, 논문·학회·전시 등 사전 공개 시 신규성 상실로 등록이 거절될 수 있습니다. (제19조)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588873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양도계약서는 발명자가 퇴사 후 해당 발명에 대해 권리를 주장하는 것을 방지하고, 출원·등록 절차에 필요한 협력 의무를 확보하기 위한 것입니다.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제15조에 따라 보상의 종류·금액·지급 방법을 규정으로 정하고, 심의 시 결정된 등급(A·B·C)에 따라 차등 지급합니다.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보상은 국내 출원 시와 국내 등록 시 두 차례 지급하며, 아래 금액은 특허 1건 기준입니다.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10360152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10360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 및 금액 (특허 1건 기준)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95728"/>
          <a:ext cx="103601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34640"/>
                <a:gridCol w="1792224"/>
                <a:gridCol w="1792224"/>
                <a:gridCol w="1792224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보상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시기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출원일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등록일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       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특허 1건 기준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14400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공동발명 분배 (제7조)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발명자가 2명 이상인 경우 발명신고서에 기재된 기여율에 따라 분배하며, 합계액은 건당 보상액을 초과하지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559302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32454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출원보상금의 성격 (제5조)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559302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5606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여부와 무관하게 지급하며, 등록 거절·취하 시에도 회수하지 않습니다. 분할·계속출원은 중복 지급하지 않습니다.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04204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77356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시기 및 통지 (제9조)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04204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50508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사유가 발생한 날이 속하는 달의 다음 달 급여 지급일에 지급하고, 등급과 항목별 점수를 서면 통지합니다.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849106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22258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 · 부지급 (제8조)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849106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95410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허위 기재, 무단 공개로 인한 신규성 상실, 절차 협력 거부의 경우 위원회 의결로 감액하거나 지급하지 않을 수 있습니다.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14400" y="598017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보상금은 「소득세법」 제12조제3호 어목에 따라 연간 700만원까지 비과세되며, 재직 중 지급분은 근로소득, 퇴직 후 지급분은 기타소득으로 처리합니다.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등급 결정 기준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위원이 4개 항목을 1~5점으로 채점하고, 위원 채점의 평균값(소수점 첫째 자리 반올림)을 합계 점수로 하여 등급을 결정합니다.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 결과와 항목별 점수는 심의 결과 통지서에 기재하여 발명자에게 서면으로 통지합니다.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6126480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항목 (각 1~5점 · 20점 만점)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505456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505456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사업 연관성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95728" y="2505456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250545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제품·서비스(OFFen 등)에 이미 적용되었거나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적용이 확정되어 있는가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82512" y="2505456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505456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8688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권리 활용성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395728" y="3218688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32186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회피설계가 어렵고, 제3자의 침해를 외부에서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탐지·입증할 수 있는가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82512" y="3218688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82512" y="3218688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4400" y="3931920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93192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기술 독창성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395728" y="3931920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60320" y="39319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선행기술 대비 차별성이 뚜렷하고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가능성이 높은가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82512" y="3931920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2512" y="393192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" y="4645152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6451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대외 활용 가치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395728" y="4645152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60320" y="46451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기술평가·인증·정부사업 가점·국가 R&amp;D 성과로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활용할 수 있는가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82512" y="4645152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2512" y="4645152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42632" y="1956816"/>
            <a:ext cx="3931920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42632" y="195681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환산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342632" y="2505456"/>
            <a:ext cx="3931920" cy="859536"/>
          </a:xfrm>
          <a:prstGeom prst="rect">
            <a:avLst/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88936" y="26883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26700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16점 이상   핵심 특허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29443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및 사업화 연계 우선 검토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342632" y="3456432"/>
            <a:ext cx="3931920" cy="8595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88936" y="36393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8110728" y="36210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~ 15점   사업 연계 특허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110728" y="3895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제품·서비스와 직접 연관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342632" y="4407408"/>
            <a:ext cx="3931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88936" y="45902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8110728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10점 이하   방어·포트폴리오 특허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110728" y="4846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 및 권리 방어 목적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14400" y="5486400"/>
            <a:ext cx="10360152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133856" y="5486400"/>
            <a:ext cx="9921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2점·4점도 부여할 수 있으며, 위 문구는 판단 기준선입니다.   ※ 등급 판정에 위원 간 이견이 있는 경우 위원장이 최종 결정하며, 등록 시점에 사업 적용 상황이 현저히 변경된 경우 의결로 1개 등급 범위에서 조정할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및 서식 4종 정비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운영에 필요한 규정과 서식은 모두 초안 작성을 완료하였으며, 승인 후 사내 규정으로 확정하고자 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서식은 「발명진흥법」의 요구 사항과 사내 절차 단계에 1:1로 대응하도록 구성하였습니다.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신고서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완성사실 통지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및 기여율 확정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공개 이력 확인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R&amp;D 연계 여부 확인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61588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4740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1588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4468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44468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제15조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781044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종류·금액 규정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시기 및 방법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등급(A·B·C) 기준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 처리 및 퇴직자 보상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8776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81928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등급 평가표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08776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1656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91656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제6조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채점지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점수 기준 제시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가결·부결·보류 의견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부결 사유 체크리스트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55964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29116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55964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38844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38844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제13조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075420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승계 사실 확인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퇴사 후 권리 주장 방지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출원·등록 협력 의무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 의무 (퇴직 후 유효)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4480560"/>
            <a:ext cx="10360152" cy="47548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480560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4종 모두 초안 작성 완료 — 승인 후 사내 규정으로 확정하고, 보상규정(안)은 임직원 협의를 거쳐 시행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4400" y="5230368"/>
            <a:ext cx="10360152" cy="731520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33856" y="5230368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절차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제15조제3항에 따라 보상 규정의 작성·변경은 임직원과 협의하여야 하며, 임직원에게 불리하게 변경하는 경우에는 적용 대상 임직원 과반수의 동의가 필요합니다.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 시점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시행일 이후 신고된 직무발명부터 적용하되, 시행일 현재 출원 중이거나 등록된 직무발명에 대하여는 위원회 의결로 적용할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및 특이사항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위원회에서는 운영 방안과 보상 기준을 확정하고, 기 보유 지식재산권의 기한을 공유한 뒤 첫 발명 심의를 진행합니다.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 대표님 구두 컨펌이 완료된 건으로, 정식 심의 절차를 거쳐 승계·출원 여부를 의결합니다.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20824"/>
            <a:ext cx="256032" cy="256032"/>
          </a:xfrm>
          <a:prstGeom prst="ellipse">
            <a:avLst/>
          </a:prstGeom>
          <a:solidFill>
            <a:srgbClr val="101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020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95681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안건 (4건)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560320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6032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72768" y="2560320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73936" y="2651760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추진 목적 및 운영 방안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773936" y="2926080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배경 · 위원 구성 · 의결 방식 확정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3346704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34670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2768" y="3346704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73936" y="3438144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마감일 알림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773936" y="3712464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/ 출원 건별 연차료 및 기한 공유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4133088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13308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572768" y="4133088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73936" y="4224528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기준(안) 검토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773936" y="4498848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및 등급 평가표 심의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4919472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9194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2768" y="4919472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73936" y="5010912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 아이디어 발표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285232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15분 + 질의응답 10분 · 승계 여부 의결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891272" y="2560320"/>
            <a:ext cx="338328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64424" y="2560320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 이 사 항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891272" y="2944368"/>
            <a:ext cx="3383280" cy="1042416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74152" y="2944368"/>
            <a:ext cx="30175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대표님 구두 컨펌이 완료된 건입니다.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 정식 심의 절차를 거쳐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승계·출원 및 보상 등급을 의결합니다.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91272" y="4133088"/>
            <a:ext cx="338328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4133088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 행 방 식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891272" y="4517136"/>
            <a:ext cx="33832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10728" y="4517136"/>
            <a:ext cx="29443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평가표 채점 후 등급 결정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(주)차원에 출원 의뢰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5870448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부결 의결 시 신고일부터 4개월 이내에 미승계 사실을 서면으로 통지해야 합니다. (「발명진흥법」 제13조, 시행령 제7조)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관리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관리 포인트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 과정에서 기한을 놓치면 권리 자체를 잃거나 보상 절차에 하자가 생길 수 있습니다.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항목은 연구기획팀이 발명 신고 접수 시점부터 관리하며, 위원회 개최 시 마감 임박 건을 안건으로 보고합니다.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통지 기한 (4개월)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접수일부터 4개월 이내에 승계 여부를 서면 통지해야 하며, 미통지 시 승계를 포기한 것으로 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제13조 · 시행령 제7조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43984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17136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조약우선권 기한 (12개월)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43984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 12개월 이내에 해외 출원 여부를 결정해야 우선권 주장이 가능합니다.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파리협약 우선권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73568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보상금 비과세 한도 (700만원)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73568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56448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700만원까지 비과세되므로 동일 발명자의 연간 누적 지급액을 지급 전 확인합니다.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「소득세법」 제12조제3호 어목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 비밀유지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4400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논문·학회·전시 등 사전 공개 시 신규성 상실로 등록이 거절될 수 있으며, 위반 시 처벌 대상입니다.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제19조 · 제58조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43984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17136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시 협의 절차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43984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26864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규정은 임직원과 협의하여 작성하며, 불리하게 변경할 경우 과반수 동의가 필요합니다.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제15조제3항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73568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이의 제기 대응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973568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56448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보상에 이의가 있는 경우 사용자위원·종업원위원 동수의 직무발명심의위원회를 별도로 구성합니다.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제17조 · 제18조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88873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마감 임박 건은 위원회 개최 시 별도 안건으로 보고하며, 기한 경과가 우려되는 건은 서면 심의로 대체할 수 있도록 운영 규칙에 반영하겠습니다.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12984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요청 사항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22311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426464" y="2212848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 승인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426464" y="25420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안건 발생 시 수시 개최 · 출석위원 과반수 찬성으로 의결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017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26464" y="29992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 승인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26464" y="332841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기준 · 발명신고서 · 등급 평가표 · 특허권 양도계약서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03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26464" y="378561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 승인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26464" y="41148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— 운영 방안 · 기한 관리 · 보상 기준 · 아이디어 심의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후속 조치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1389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8F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보상규정(안) 임직원 협의    ②  제1회 위원회 개최    ③  규정 제정 및 시행    ④  발명 신고 상시 접수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9253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9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연구기획팀  ·  2026. 9. 4.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특허심의위원회 설치·운영(안)</dc:title>
  <dc:subject>PptxGenJS Presentation</dc:subject>
  <dc:creator>㈜엔키화이트햇 연구기획팀</dc:creator>
  <cp:lastModifiedBy>㈜엔키화이트햇 연구기획팀</cp:lastModifiedBy>
  <cp:revision>1</cp:revision>
  <dcterms:created xsi:type="dcterms:W3CDTF">2026-09-04T08:19:19Z</dcterms:created>
  <dcterms:modified xsi:type="dcterms:W3CDTF">2026-09-04T08:19:19Z</dcterms:modified>
</cp:coreProperties>
</file>