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8/28 부사장님 지시로 위원회 구성을 준비했습니다. 오늘은 구성·운영안, 보상규정(안), 제1회 개최 세 건의 승인을 요청드립니다.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승인해 주시면 보상규정(안)의 임직원 협의 절차를 진행하고, 제1회 특허심의위원회 일정을 확정하여 안내드리겠습니다.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myeoyul/docs/patent-committee/assets/bg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8470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설치·운영(안)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26151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「발명진흥법」에 따른 직무발명 관리체계 정비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32688" y="5413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DD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DD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연구기획팀 배준호 연구원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myeoyul/docs/patent-committee/assets/bg_cont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1938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3300" dirty="0"/>
          </a:p>
        </p:txBody>
      </p:sp>
      <p:sp>
        <p:nvSpPr>
          <p:cNvPr id="4" name="Text 1"/>
          <p:cNvSpPr txBox="1"/>
          <p:nvPr/>
        </p:nvSpPr>
        <p:spPr>
          <a:xfrm>
            <a:off x="1389888" y="26883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BFC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출원·등록 프로세스 재정립을 위한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BFC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설치·운영 및 직무발명 보상 기준 보고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882128" y="2103120"/>
            <a:ext cx="25603" cy="566928"/>
          </a:xfrm>
          <a:prstGeom prst="rect">
            <a:avLst/>
          </a:prstGeom>
          <a:solidFill>
            <a:srgbClr val="9FB0D0"/>
          </a:solidFill>
          <a:ln w="12700">
            <a:solidFill>
              <a:srgbClr val="9FB0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83296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추진 배경 및 법적 근거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83296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관리 방향의 전환 · 발명진흥법 이행 사항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82128" y="3035808"/>
            <a:ext cx="25603" cy="566928"/>
          </a:xfrm>
          <a:prstGeom prst="rect">
            <a:avLst/>
          </a:prstGeom>
          <a:solidFill>
            <a:srgbClr val="9FB0D0"/>
          </a:solidFill>
          <a:ln w="12700">
            <a:solidFill>
              <a:srgbClr val="9FB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83296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위원회 구성 및 운영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83296" y="3328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 6인 구성 · 개선된 출원·등록 프로세스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82128" y="3968496"/>
            <a:ext cx="25603" cy="566928"/>
          </a:xfrm>
          <a:prstGeom prst="rect">
            <a:avLst/>
          </a:prstGeom>
          <a:solidFill>
            <a:srgbClr val="9FB0D0"/>
          </a:solidFill>
          <a:ln w="12700">
            <a:solidFill>
              <a:srgbClr val="9FB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83296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직무발명 보상 기준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83296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보상규정(안) · 보상 등급 결정 기준 · 서식 4종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82128" y="4901184"/>
            <a:ext cx="25603" cy="566928"/>
          </a:xfrm>
          <a:prstGeom prst="rect">
            <a:avLst/>
          </a:prstGeom>
          <a:solidFill>
            <a:srgbClr val="9FB0D0"/>
          </a:solidFill>
          <a:ln w="12700">
            <a:solidFill>
              <a:srgbClr val="9FB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83296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제1회 위원회 안건 및 승인 요청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83296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4건 · 운영상 관리 포인트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개요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사항 및 승인 요청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8. 28.(금) 전성학 부사장의 지시에 따라 특허 출원·등록 프로세스 재정립을 위한 특허심의위원회 구성(안)을 보고드립니다.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위원회는 「발명진흥법」에 따른 권리 승계·보상 절차를 사내에서 이행하고, 특허 관리 체계를 상장 기업 수준으로 정비하는 것을 목적으로 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75104"/>
            <a:ext cx="1417320" cy="548640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751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사항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1975104"/>
            <a:ext cx="89428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975104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8. 28.(금) 전성학 부사장 — 자사의 특허 출원·등록 프로세스 재정립을 위한 특허심의위원회 구성 지시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523744"/>
            <a:ext cx="1417320" cy="548640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237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목적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31720" y="2523744"/>
            <a:ext cx="89428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42032" y="2523744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「발명진흥법」 제13조·제15조에 따른 권리 승계 및 보상 절차의 사내 이행, 사업 기여도 중심의 발명 선별 체계 확립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1417320" cy="548640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0723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범위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31720" y="3072384"/>
            <a:ext cx="89428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42032" y="3072384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구성·운영(안), 개선된 출원·등록 프로세스, 직무발명 보상규정(안) 및 서식 4종, 제1회 위원회 안건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877056"/>
            <a:ext cx="10360152" cy="384048"/>
          </a:xfrm>
          <a:prstGeom prst="roundRect">
            <a:avLst>
              <a:gd name="adj" fmla="val 50000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77056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 인 요 청 사 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4498848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498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설치·운영(안)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882896"/>
            <a:ext cx="330098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48828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 6인 구성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발생 시 수시 개최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출석위원 과반수 찬성으로 의결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43984" y="4498848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4498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보상규정(안) 및 서식 4종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43984" y="4882896"/>
            <a:ext cx="330098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08576" y="48828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보상금 지급 기준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발명신고서 · 등급 평가표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특허권 양도계약서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73568" y="4498848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4498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특허심의위원회 개최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73568" y="4882896"/>
            <a:ext cx="330098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8160" y="48828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방안 및 보상 기준 심의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보유 지식재산권 기한 관리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발명 아이디어 심의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98932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직무발명 보상규정(안)은 「발명진흥법」 제15조제3항에 따라 확정 전 임직원 협의 절차를 거칩니다.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관리 방향의 전환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OFFen의 상품성 향상 및 기술평가를 위해 다수의 특허 등록을 추진해 왔으나, 발명 선별 기준과 보상 기준이 정립되어 있지 않았습니다.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앞으로는 사업 기여도가 높은 발명을 선별하여 집중 지원하고, 보상·연차료·해외 출원까지 일관된 기준으로 관리하고자 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75104"/>
            <a:ext cx="5029200" cy="384048"/>
          </a:xfrm>
          <a:prstGeom prst="rect">
            <a:avLst/>
          </a:prstGeom>
          <a:solidFill>
            <a:srgbClr val="7C8BA1"/>
          </a:solidFill>
          <a:ln w="12700">
            <a:solidFill>
              <a:srgbClr val="7C8BA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975104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(AS-IS)   양(量) 중심의 출원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2468880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OFFen 상품성 향상 및 기술평가 목적의 다수 출원 추진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90672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3090672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 선별 기준 부재 — 사업 기여도와 무관한 출원 혼재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12464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712464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직무발명보상금 지급 기준 미정립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334256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4334256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연차료 및 해외 출원 관리 체계 부재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975104"/>
            <a:ext cx="5029200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975104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(TO-BE)   가치 중심의 선별·보상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246888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468880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기여도가 높은 발명을 선별하여 집중 지원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3090672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090672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직무발명보상금 지급 기준 정립 (A·B·C 등급제)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5352" y="3712464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712464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연차료 관리 — 등급별 유지·포기 판단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4334256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334256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출원 검토 — 조약우선권 기한 내 의사결정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5138928"/>
            <a:ext cx="10360152" cy="475488"/>
          </a:xfrm>
          <a:prstGeom prst="roundRect">
            <a:avLst>
              <a:gd name="adj" fmla="val 50000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138928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 신고부터 보상·해외 출원까지 문서로 증빙되는 절차 확립 → 상장 심사·기술평가·정부 R&amp;D 대응이 가능한 지식재산 관리 체계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833872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특허심의위원회는 발명의 승계·출원 여부와 보상 등급을 함께 의결하여, 선별과 보상이 하나의 절차로 연결되도록 합니다.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 및 사내 이행 사항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특허심의위원회는 「발명진흥법」이 사용자에게 요구하는 권리 승계 통지, 정당한 보상, 비밀유지 의무를 사내 절차로 이행하기 위한 기구입니다.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조문별 이행 사항은 다음과 같으며, 관련 서식은 모두 초안 작성을 완료하였습니다.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56816"/>
          <a:ext cx="1036015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193792"/>
                <a:gridCol w="301752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   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이행 사항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제12조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직무발명 완성사실의 통지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종업원은 직무발명을 완성한 경우 지체 없이 사용자에게 문서로 통지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직무발명 신고서 제출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제13조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승계 여부의 통지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승계 규정이 있는 경우 발명 완성 시 권리 승계, 미승계 시 4개월 이내 서면 통지 (시행령 제7조)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위원회 심의 및 결과 통지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제15조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직무발명에 대한 보상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권리 승계 시 정당한 보상, 보상 기준은 종업원과 협의하여 규정으로 정함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직무발명 보상규정(안) 제정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제19조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비밀유지의 의무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사용자가 출원할 때까지 발명 내용의 비밀유지 (위반 시 제58조 벌칙)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신고서 서약 · 양도계약 제7조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5212080"/>
            <a:ext cx="10360152" cy="713232"/>
          </a:xfrm>
          <a:prstGeom prst="rect">
            <a:avLst/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3856" y="5212080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사전 승계 규정이 있는 경우 권리는 발명을 완성한 때부터 회사에 승계되며, 접수일부터 4개월 이내에 미승계 사실을 통지하지 않으면 승계한 것으로 처리됩니다.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보상에 이의가 있는 경우에는 「발명진흥법」 제17조에 따른 직무발명심의위원회를 별도로 구성하여 심의합니다. (특허심의위원회와 별개 기구)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운영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및 운영 방안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위원회는 대표이사를 포함한 6인으로 구성하며, 연구기획팀이 간사를 맡아 안건 접수·심의 준비·결과 통지를 담당합니다.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발생 시 수시로 개최하여 발명의 승계·출원 여부와 보상 등급을 함께 의결합니다.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10360152" cy="347472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56816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위원 구성 (총 6인)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505456"/>
            <a:ext cx="1604772" cy="786384"/>
          </a:xfrm>
          <a:prstGeom prst="rect">
            <a:avLst/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이성권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D2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65476" y="2505456"/>
            <a:ext cx="1604772" cy="786384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5476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전성학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65476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D2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부사장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16552" y="2505456"/>
            <a:ext cx="16047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최창진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7628" y="2505456"/>
            <a:ext cx="16047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7628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이정민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18704" y="2505456"/>
            <a:ext cx="16047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18704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이태우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18704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69780" y="2505456"/>
            <a:ext cx="16047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69780" y="261518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배준호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69780" y="2889504"/>
            <a:ext cx="160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연구원 (간사)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602736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" y="36027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  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3986784"/>
            <a:ext cx="330098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8992" y="398678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발생 시 수시 개최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연구기획팀이 안건을 접수·상정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43984" y="3602736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17136" y="36027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   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43984" y="3986784"/>
            <a:ext cx="330098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08576" y="398678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발표 15분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 10분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73568" y="3602736"/>
            <a:ext cx="3300984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36027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  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73568" y="3986784"/>
            <a:ext cx="330098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398678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재적위원 과반수 출석, 출석위원 과반수 찬성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가부동수인 경우 위원장이 결정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4400" y="5047488"/>
            <a:ext cx="10360152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33856" y="5047488"/>
            <a:ext cx="9921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역할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임직원의 직무발명에 대한 승계·출원 여부 의결   ·   보상 등급(A·B·C) 결정   ·   기 보유 지식재산권의 연차료 및 유지·포기 판단   ·   해외 출원 대상 선정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76072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특허심의위원회는 「발명진흥법」 제17조의 직무발명심의위원회(보상 이의 제기 심의 기구)와는 별개의 사내 의사결정 기구입니다.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운영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개선된 특허 출원·등록 프로세스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 신고에서 해외 출원 결정까지 6단계로 표준화하고, 각 단계의 산출물과 기한을 연구기획팀이 관리합니다.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양도계약서 날인 단계를 신설하여, 퇴사 이후의 권리 분쟁 소지를 사전에 차단합니다.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10360152" cy="384048"/>
          </a:xfrm>
          <a:prstGeom prst="roundRect">
            <a:avLst>
              <a:gd name="adj" fmla="val 50000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020824"/>
            <a:ext cx="256032" cy="256032"/>
          </a:xfrm>
          <a:prstGeom prst="ellipse">
            <a:avLst/>
          </a:prstGeom>
          <a:solidFill>
            <a:srgbClr val="1017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56816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 신고 → 심의 → 출원·등록 → 양도계약 → 보상 → 해외 출원 (6단계)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발명신고서 제출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발명자 → 연구기획팀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발명진흥법 제12조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73452" y="26151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7462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777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위원회 심의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7462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6606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대면 발표 15분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가결 시 등급 결정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233672" y="26151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799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출원 · 등록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특허법률사무소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(주)차원에 의뢰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993892" y="26151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506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821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양도계약 날인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506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650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일체를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회사로 이전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754112" y="26151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보상금 지급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출원 ·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등록보상금 지급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514332" y="26151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15500" y="2615184"/>
            <a:ext cx="1559052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8652" y="2615184"/>
            <a:ext cx="14127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해외 출원 결정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15500" y="3017520"/>
            <a:ext cx="15590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06940" y="3017520"/>
            <a:ext cx="13761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출원일부터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이내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4261104"/>
            <a:ext cx="1234440" cy="512064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426110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48840" y="4261104"/>
            <a:ext cx="91257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31720" y="4261104"/>
            <a:ext cx="8759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발명신고서 · 등급 평가표 · 심의 결과 통지서 · 특허권 양도계약서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4400" y="4773168"/>
            <a:ext cx="1234440" cy="512064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" y="477316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  한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48840" y="4773168"/>
            <a:ext cx="91257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773168"/>
            <a:ext cx="8759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여부 통지 4개월 이내 (제13조) · 해외 출원 12개월 이내 (조약우선권)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4400" y="5285232"/>
            <a:ext cx="1234440" cy="512064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28523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48840" y="5285232"/>
            <a:ext cx="91257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331720" y="5285232"/>
            <a:ext cx="8759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출원 전까지 발명 내용은 비밀유지 대상이며, 논문·학회·전시 등 사전 공개 시 신규성 상실로 등록이 거절될 수 있습니다. (제19조)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14400" y="5888736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양도계약서는 발명자가 퇴사 후 해당 발명에 대해 권리를 주장하는 것을 방지하고, 출원·등록 절차에 필요한 협력 의무를 확보하기 위한 것입니다.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기준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보상규정(안)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「발명진흥법」 제15조에 따라 보상의 종류·금액·지급 방법을 규정으로 정하고, 심의 시 결정된 등급(A·B·C)에 따라 차등 지급합니다.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보상은 국내 출원 시와 국내 등록 시 두 차례 지급하며, 아래 금액은 특허 1건 기준입니다.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0360152" cy="347472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보상의 종류 및 금액 (특허 1건 기준)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95728"/>
          <a:ext cx="1036015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34640"/>
                <a:gridCol w="1792224"/>
                <a:gridCol w="1792224"/>
                <a:gridCol w="1792224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보상 종류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7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지급 시기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7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A등급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7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B등급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7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C등급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7C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출원보상금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출원일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등록보상금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등록일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       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특허 1건 기준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7C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17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100만원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608576"/>
            <a:ext cx="2425446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87552" y="4608576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공동발명 분배 (제7조)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992624"/>
            <a:ext cx="242544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0704" y="4992624"/>
            <a:ext cx="213283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발명자가 2명 이상인 경우 발명신고서에 기재된 기여율에 따라 분배하며, 합계액은 건당 보상액을 초과하지 않습니다.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59302" y="4608576"/>
            <a:ext cx="2425446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2454" y="4608576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출원보상금의 성격 (제5조)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59302" y="4992624"/>
            <a:ext cx="242544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5606" y="4992624"/>
            <a:ext cx="213283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여부와 무관하게 지급하며, 등록 거절·취하 시에도 회수하지 않습니다. 분할·계속출원은 중복 지급하지 않습니다.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04204" y="4608576"/>
            <a:ext cx="2425446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77356" y="4608576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시기 및 통지 (제9조)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04204" y="4992624"/>
            <a:ext cx="242544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0508" y="4992624"/>
            <a:ext cx="213283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사유가 발생한 날이 속하는 달의 다음 달 급여 지급일에 지급하고, 등급과 항목별 점수를 서면 통지합니다.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849106" y="4608576"/>
            <a:ext cx="2425446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22258" y="4608576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감액 · 부지급 (제8조)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49106" y="4992624"/>
            <a:ext cx="242544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95410" y="4992624"/>
            <a:ext cx="213283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허위 기재, 무단 공개로 인한 신규성 상실, 절차 협력 거부의 경우 위원회 의결로 감액하거나 지급하지 않을 수 있습니다.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980176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보상금은 「소득세법」 제12조제3호 어목에 따라 연간 700만원까지 비과세되며, 재직 중 지급분은 근로소득, 퇴직 후 지급분은 기타소득으로 처리합니다.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기준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등급 결정 기준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위원이 4개 항목을 1~5점으로 채점하고, 위원 채점의 평균값(소수점 첫째 자리 반올림)을 합계 점수로 하여 등급을 결정합니다.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결정 결과와 항목별 점수는 심의 결과 통지서에 기재하여 발명자에게 서면으로 통지합니다.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6126480" cy="347472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568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(각 1~5점 · 20점 만점)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505456"/>
            <a:ext cx="1481328" cy="640080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0545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사업 연관성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2505456"/>
            <a:ext cx="3986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054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제품·서비스(OFFen 등)에 이미 적용되었거나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적용이 확정되어 있는가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82512" y="2505456"/>
            <a:ext cx="6583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250545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1481328" cy="640080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868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권리 활용성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95728" y="3218688"/>
            <a:ext cx="3986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3218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회피설계가 어렵고, 제3자의 침해를 외부에서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탐지·입증할 수 있는가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3218688"/>
            <a:ext cx="6583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3218688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1481328" cy="640080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9319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기술 독창성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95728" y="3931920"/>
            <a:ext cx="3986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선행기술 대비 차별성이 뚜렷하고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가능성이 높은가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82512" y="3931920"/>
            <a:ext cx="6583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39319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4645152"/>
            <a:ext cx="1481328" cy="640080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6451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대외 활용 가치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95728" y="4645152"/>
            <a:ext cx="3986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0320" y="46451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기술평가·인증·정부사업 가점·국가 R&amp;D 성과로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활용할 수 있는가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4645152"/>
            <a:ext cx="6583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4645152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42632" y="1956816"/>
            <a:ext cx="3931920" cy="347472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42632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환산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42632" y="2505456"/>
            <a:ext cx="3931920" cy="859536"/>
          </a:xfrm>
          <a:prstGeom prst="rect">
            <a:avLst/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88936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110728" y="2670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16점 이상   핵심 특허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110728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출원 및 사업화 연계 우선 검토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42632" y="3456432"/>
            <a:ext cx="3931920" cy="8595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88936" y="3639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8110728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~ 15점   사업 연계 특허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110728" y="3895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제품·서비스와 직접 연관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42632" y="4407408"/>
            <a:ext cx="3931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88936" y="4590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8110728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이하   방어·포트폴리오 특허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110728" y="4846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기술평가 및 권리 방어 목적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4400" y="5486400"/>
            <a:ext cx="10360152" cy="512064"/>
          </a:xfrm>
          <a:prstGeom prst="rect">
            <a:avLst/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33856" y="5486400"/>
            <a:ext cx="9921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2점·4점도 부여할 수 있으며, 위 문구는 판단 기준선입니다.   ※ 등급 판정에 위원 간 이견이 있는 경우 위원장이 최종 결정하며, 등록 시점에 사업 적용 상황이 현저히 변경된 경우 의결로 1개 등급 범위에서 조정할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기준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및 서식 4종 정비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운영에 필요한 규정과 서식은 모두 초안 작성을 완료하였으며, 승인 후 사내 규정으로 확정하고자 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서식은 「발명진흥법」의 요구 사항과 사내 절차 단계에 1:1로 대응하도록 구성하였습니다.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75104"/>
            <a:ext cx="2418588" cy="420624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975104"/>
            <a:ext cx="2272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신고서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95728"/>
            <a:ext cx="241858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578608"/>
            <a:ext cx="2052828" cy="310896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78608"/>
            <a:ext cx="2052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발명진흥법 제12조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017520"/>
            <a:ext cx="19796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 완성사실 통지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발명자 및 기여율 확정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공개 이력 확인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R&amp;D 연계 여부 확인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1588" y="1975104"/>
            <a:ext cx="2418588" cy="420624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4740" y="1975104"/>
            <a:ext cx="2272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보상규정(안)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1588" y="2395728"/>
            <a:ext cx="241858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4468" y="2578608"/>
            <a:ext cx="2052828" cy="310896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4468" y="2578608"/>
            <a:ext cx="2052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발명진흥법 제15조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781044" y="3017520"/>
            <a:ext cx="19796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보상의 종류·금액 규정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시기 및 방법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등급(A·B·C) 기준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 처리 및 퇴직자 보상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975104"/>
            <a:ext cx="2418588" cy="420624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1928" y="1975104"/>
            <a:ext cx="2272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등급 평가표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2395728"/>
            <a:ext cx="241858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2578608"/>
            <a:ext cx="2052828" cy="310896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91656" y="2578608"/>
            <a:ext cx="2052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보상규정(안) 제6조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017520"/>
            <a:ext cx="19796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위원별 채점지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점수 기준 제시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가결·부결·보류 의견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부결 사유 체크리스트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55964" y="1975104"/>
            <a:ext cx="2418588" cy="420624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29116" y="1975104"/>
            <a:ext cx="2272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특허권 양도계약서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55964" y="2395728"/>
            <a:ext cx="241858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8844" y="2578608"/>
            <a:ext cx="2052828" cy="310896"/>
          </a:xfrm>
          <a:prstGeom prst="rect">
            <a:avLst/>
          </a:prstGeom>
          <a:solidFill>
            <a:srgbClr val="E8F0FA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38844" y="2578608"/>
            <a:ext cx="2052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발명진흥법 제13조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075420" y="3017520"/>
            <a:ext cx="19796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승계 사실 확인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퇴사 후 권리 주장 방지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출원·등록 협력 의무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 의무 (퇴직 후 유효)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480560"/>
            <a:ext cx="10360152" cy="475488"/>
          </a:xfrm>
          <a:prstGeom prst="roundRect">
            <a:avLst>
              <a:gd name="adj" fmla="val 50000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480560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모두 초안 작성 완료 — 승인 후 사내 규정으로 확정하고, 보상규정(안)은 임직원 협의를 거쳐 시행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4400" y="5230368"/>
            <a:ext cx="10360152" cy="731520"/>
          </a:xfrm>
          <a:prstGeom prst="rect">
            <a:avLst/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33856" y="5230368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제정 절차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「발명진흥법」 제15조제3항에 따라 보상 규정의 작성·변경은 임직원과 협의하여야 하며, 임직원에게 불리하게 변경하는 경우에는 적용 대상 임직원 과반수의 동의가 필요합니다.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 시점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시행일 이후 신고된 직무발명부터 적용하되, 시행일 현재 출원 중이거나 등록된 직무발명에 대하여는 위원회 의결로 적용할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위원회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및 특이사항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위원회에서는 운영 방안과 보상 기준을 확정하고, 기 보유 지식재산권의 기한을 공유한 뒤 첫 발명 심의를 진행합니다.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제품개발팀 강충현 연구원의 아이디어는 대표님 구두 컨펌이 완료된 건으로, 정식 심의 절차를 거쳐 승계·출원 여부를 의결합니다.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10360152" cy="384048"/>
          </a:xfrm>
          <a:prstGeom prst="roundRect">
            <a:avLst>
              <a:gd name="adj" fmla="val 50000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020824"/>
            <a:ext cx="256032" cy="256032"/>
          </a:xfrm>
          <a:prstGeom prst="ellipse">
            <a:avLst/>
          </a:prstGeom>
          <a:solidFill>
            <a:srgbClr val="1017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56816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특허심의위원회 안건 (4건)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658368" cy="67665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603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72768" y="2560320"/>
            <a:ext cx="60167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73936" y="265176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추진 목적 및 운영 방안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773936" y="2926080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배경 · 위원 구성 · 의결 방식 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46704"/>
            <a:ext cx="658368" cy="67665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72768" y="3346704"/>
            <a:ext cx="60167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73936" y="343814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보유 지식재산권 마감일 알림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773936" y="3712464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/ 출원 건별 연차료 및 기한 공유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133088"/>
            <a:ext cx="658368" cy="67665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13308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72768" y="4133088"/>
            <a:ext cx="60167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73936" y="422452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직무발명보상금 기준(안) 검토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773936" y="4498848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보상규정(안) 및 등급 평가표 심의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919472"/>
            <a:ext cx="658368" cy="67665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9194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72768" y="4919472"/>
            <a:ext cx="60167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73936" y="501091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제품개발팀 강충현 연구원 아이디어 발표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773936" y="5285232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15분 + 질의응답 10분 · 승계 여부 의결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91272" y="2560320"/>
            <a:ext cx="3383280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64424" y="256032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 이 사 항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91272" y="2944368"/>
            <a:ext cx="3383280" cy="1042416"/>
          </a:xfrm>
          <a:prstGeom prst="rect">
            <a:avLst/>
          </a:prstGeom>
          <a:solidFill>
            <a:srgbClr val="F3F7FB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74152" y="2944368"/>
            <a:ext cx="3017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제품개발팀 강충현 연구원의 아이디어는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구두 컨펌이 완료된 건입니다.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위원회에서 정식 심의 절차를 거쳐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승계·출원 및 보상 등급을 의결합니다.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91272" y="4133088"/>
            <a:ext cx="3383280" cy="384048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64424" y="413308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 행 방 식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91272" y="4517136"/>
            <a:ext cx="3383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10728" y="4517136"/>
            <a:ext cx="2944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발표 15분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 10분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위원별 평가표 채점 후 등급 결정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가결 시 (주)차원에 출원 의뢰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87044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부결 의결 시 신고일부터 4개월 이내에 미승계 사실을 서면으로 통지해야 합니다. (「발명진흥법」 제13조, 시행령 제7조)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949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관리</a:t>
            </a:r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│   </a:t>
            </a:r>
            <a:pPr indent="0" marL="0">
              <a:buNone/>
            </a:pPr>
            <a:r>
              <a:rPr lang="en-US" sz="2100" b="1" dirty="0">
                <a:solidFill>
                  <a:srgbClr val="1017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관리 포인트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1615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운영 과정에서 기한을 놓치면 권리 자체를 잃거나 보상 절차에 하자가 생길 수 있습니다.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항목은 연구기획팀이 발명 신고 접수 시점부터 관리하며, 위원회 개최 시 마감 임박 건을 안건으로 보고합니다.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638251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E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97510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9751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통지 기한 (4개월)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접수일부터 4개월 이내에 승계 여부를 서면 통지해야 하며, 미통지 시 승계를 포기한 것으로 봅니다.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제13조 · 시행령 제7조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3984" y="197510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9751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조약우선권 기한 (12개월)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43984" y="237744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237744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출원일부터 12개월 이내에 해외 출원 여부를 결정해야 우선권 주장이 가능합니다.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파리협약 우선권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73568" y="197510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9751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보상금 비과세 한도 (700만원)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237744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6448" y="237744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700만원까지 비과세되므로 동일 발명자의 연간 누적 지급액을 지급 전 확인합니다.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「소득세법」 제12조제3호 어목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89534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89534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출원 전 비밀유지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29768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논문·학회·전시 등 사전 공개 시 신규성 상실로 등록이 거절될 수 있으며, 위반 시 처벌 대상입니다.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제19조 · 제58조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43984" y="389534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17136" y="389534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제정 시 협의 절차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43984" y="429768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26864" y="429768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규정은 임직원과 협의하여 작성하며, 불리하게 변경할 경우 과반수 동의가 필요합니다.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제15조제3항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73568" y="3895344"/>
            <a:ext cx="3300984" cy="402336"/>
          </a:xfrm>
          <a:prstGeom prst="rect">
            <a:avLst/>
          </a:prstGeom>
          <a:solidFill>
            <a:srgbClr val="1C67C7"/>
          </a:solidFill>
          <a:ln w="12700">
            <a:solidFill>
              <a:srgbClr val="1C67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89534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이의 제기 대응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73568" y="4297680"/>
            <a:ext cx="330098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56448" y="4297680"/>
            <a:ext cx="29352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보상에 이의가 있는 경우 사용자위원·종업원위원 동수의 직무발명심의위원회를 별도로 구성합니다.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제17조 · 제18조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888736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4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마감 임박 건은 위원회 개최 시 별도 안건으로 보고하며, 기한 경과가 우려되는 건은 서면 심의로 대체할 수 있도록 운영 규칙에 반영하겠습니다.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myeoyul/docs/patent-committee/assets/bg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2984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요청 사항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2311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426464" y="22128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특허심의위원회 설치·운영(안) 승인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426464" y="25420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 6인 구성 · 안건 발생 시 수시 개최 · 출석위원 과반수 찬성으로 의결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17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26464" y="29992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직무발명 보상규정(안) 및 서식 4종 승인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26464" y="33284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보상금 기준 · 발명신고서 · 등급 평가표 · 특허권 양도계약서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03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26464" y="37856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제1회 특허심의위원회 개최 승인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426464" y="4114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4건 — 운영 방안 · 기한 관리 · 보상 기준 · 아이디어 심의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조치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138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8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보상규정(안) 임직원 협의    ②  제1회 위원회 개최    ③  규정 제정 및 시행    ④  발명 신고 상시 접수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925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9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㈜엔키화이트햇  연구기획팀 배준호 연구원  ·  2026. 9.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특허심의위원회 설치·운영(안)</dc:title>
  <dc:subject>PptxGenJS Presentation</dc:subject>
  <dc:creator>㈜엔키화이트햇 연구기획팀</dc:creator>
  <cp:lastModifiedBy>㈜엔키화이트햇 연구기획팀</cp:lastModifiedBy>
  <cp:revision>1</cp:revision>
  <dcterms:created xsi:type="dcterms:W3CDTF">2026-09-04T08:24:18Z</dcterms:created>
  <dcterms:modified xsi:type="dcterms:W3CDTF">2026-09-04T08:24:18Z</dcterms:modified>
</cp:coreProperties>
</file>