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8/28 전성학 부사장 지시로 특허심의위원회 구성을 준비했습니다. 오늘 보고는 위원회 구성·운영안, 개선 프로세스, 보상규정(안) 승인을 요청드리는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제13조의 정식 조문 제목은 '승계 여부의 통지'입니다. 4개월 기한은 발명진흥법 시행령 제7조에 규정되어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승인해 주시면 보상규정(안)의 임직원 협의 절차를 진행하고, 제1회 특허심의위원회 일정을 확정하여 안내드리겠습니다.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371600"/>
            <a:ext cx="4937760" cy="4937760"/>
          </a:xfrm>
          <a:prstGeom prst="ellipse">
            <a:avLst/>
          </a:prstGeom>
          <a:solidFill>
            <a:srgbClr val="1F3E63"/>
          </a:solidFill>
          <a:ln w="12700">
            <a:solidFill>
              <a:srgbClr val="1F3E6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4297680"/>
            <a:ext cx="2926080" cy="2926080"/>
          </a:xfrm>
          <a:prstGeom prst="ellipse">
            <a:avLst/>
          </a:prstGeom>
          <a:solidFill>
            <a:srgbClr val="1F3E63"/>
          </a:solidFill>
          <a:ln w="12700">
            <a:solidFill>
              <a:srgbClr val="1F3E6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2984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연구기획팀 보고  |  2026. 9. 4.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55648"/>
            <a:ext cx="9509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15184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EC0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「발명진흥법」에 따른 직무발명 관리체계 정비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6928" y="3675888"/>
            <a:ext cx="1920240" cy="841248"/>
          </a:xfrm>
          <a:prstGeom prst="roundRect">
            <a:avLst>
              <a:gd name="adj" fmla="val 7609"/>
            </a:avLst>
          </a:prstGeom>
          <a:solidFill>
            <a:srgbClr val="1F3E63"/>
          </a:solidFill>
          <a:ln w="12700">
            <a:solidFill>
              <a:srgbClr val="2E517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80390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C0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0233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6인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706624" y="3675888"/>
            <a:ext cx="1920240" cy="841248"/>
          </a:xfrm>
          <a:prstGeom prst="roundRect">
            <a:avLst>
              <a:gd name="adj" fmla="val 7609"/>
            </a:avLst>
          </a:prstGeom>
          <a:solidFill>
            <a:srgbClr val="1F3E63"/>
          </a:solidFill>
          <a:ln w="12700">
            <a:solidFill>
              <a:srgbClr val="2E517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71216" y="380390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C0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 서식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871216" y="40233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4종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846320" y="3675888"/>
            <a:ext cx="1920240" cy="841248"/>
          </a:xfrm>
          <a:prstGeom prst="roundRect">
            <a:avLst>
              <a:gd name="adj" fmla="val 7609"/>
            </a:avLst>
          </a:prstGeom>
          <a:solidFill>
            <a:srgbClr val="1F3E63"/>
          </a:solidFill>
          <a:ln w="12700">
            <a:solidFill>
              <a:srgbClr val="2E517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10912" y="380390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C0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절차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10912" y="40233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986016" y="3675888"/>
            <a:ext cx="1920240" cy="841248"/>
          </a:xfrm>
          <a:prstGeom prst="roundRect">
            <a:avLst>
              <a:gd name="adj" fmla="val 7609"/>
            </a:avLst>
          </a:prstGeom>
          <a:solidFill>
            <a:srgbClr val="1F3E63"/>
          </a:solidFill>
          <a:ln w="12700">
            <a:solidFill>
              <a:srgbClr val="2E517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50608" y="380390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C0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1회차 안건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150608" y="40233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4건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95604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FA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 </a:t>
            </a:r>
            <a:pPr indent="0" marL="0">
              <a:lnSpc>
                <a:spcPts val="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8. 28.(금) 전성학 부사장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FA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 </a:t>
            </a:r>
            <a:pPr indent="0" marL="0">
              <a:lnSpc>
                <a:spcPts val="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연구기획팀 배준호 연구원 (위원회 간사)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REPORT SUMMARY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개요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40719" y="32918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0719" y="329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|  연구기획팀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298448"/>
            <a:ext cx="705916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1591056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1591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99616" y="148132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사항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1801368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8. 28.(금) 전성학 부사장께서 자사의 특허 출원·등록 프로세스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재정립을 위한 특허심의위원회 구성을 지시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596896"/>
            <a:ext cx="705916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2889504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8895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99616" y="277977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목적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99616" y="3099816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제13조·제15조에 따른 권리 승계·보상 절차를 사내에서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이행하고, 특허 관리 체계를 상장 기업 수준으로 정비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895344"/>
            <a:ext cx="705916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" y="4187952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41879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99616" y="407822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범위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99616" y="4398264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구성·운영(안), 개선된 출원·등록 프로세스,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 및 서식 4종, 제1회 안건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00416" y="1298448"/>
            <a:ext cx="3724351" cy="3913632"/>
          </a:xfrm>
          <a:prstGeom prst="roundRect">
            <a:avLst>
              <a:gd name="adj" fmla="val 1473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193024" y="157276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요청 사항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93024" y="2157984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C8A96A"/>
          </a:solidFill>
          <a:ln w="12700">
            <a:solidFill>
              <a:srgbClr val="C8A96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40496" y="2121408"/>
            <a:ext cx="27916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540496" y="2414016"/>
            <a:ext cx="279166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EC0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 및 의결 방식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93024" y="3118104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C8A96A"/>
          </a:solidFill>
          <a:ln w="12700">
            <a:solidFill>
              <a:srgbClr val="C8A9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540496" y="3081528"/>
            <a:ext cx="27916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540496" y="3374136"/>
            <a:ext cx="279166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EC0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보상금 기준 및 서식 4종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93024" y="4078224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C8A96A"/>
          </a:solidFill>
          <a:ln w="12700">
            <a:solidFill>
              <a:srgbClr val="C8A96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540496" y="4041648"/>
            <a:ext cx="27916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 개최 및 안건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540496" y="4334256"/>
            <a:ext cx="279166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EC0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방안·보상 기준·아이디어 발표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193024" y="4718304"/>
            <a:ext cx="3139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보상규정(안)은 「발명진흥법」 제15조제3항에 따라 확정 전 임직원 협의 절차를 거칩니다.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 — 특허 관리 방향의 전환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40719" y="32918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0719" y="329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|  연구기획팀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298448"/>
            <a:ext cx="5358384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41248" y="1517904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(AS-IS)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182880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양(量) 중심의 출원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41248" y="231343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33856" y="2249424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OFFen의 상품성 향상 및 기술평가를 위한 다수의 특허 등록 추진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2916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33856" y="2852928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선별 기준 부재 — 사업 기여도와 무관한 출원 혼재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41248" y="352044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3456432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지급 기준 미정립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" y="4123944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33856" y="4059936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연차료·해외 출원에 대한 관리 체계 부재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6383" y="1298448"/>
            <a:ext cx="5358384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540703" y="1517904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(TO-BE)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540703" y="182880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가치 중심의 선별·보상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40703" y="231343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9A7C3E"/>
          </a:solidFill>
          <a:ln w="12700">
            <a:solidFill>
              <a:srgbClr val="9A7C3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33311" y="2249424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기여도가 높은 발명을 선별하여 집중 지원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40703" y="2916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9A7C3E"/>
          </a:solidFill>
          <a:ln w="12700">
            <a:solidFill>
              <a:srgbClr val="9A7C3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33311" y="2852928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지급 기준 정립 (등급제 운영)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40703" y="352044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9A7C3E"/>
          </a:solidFill>
          <a:ln w="12700">
            <a:solidFill>
              <a:srgbClr val="9A7C3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33311" y="3456432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연차료 관리 — 등급별 유지·포기 판단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40703" y="4123944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9A7C3E"/>
          </a:solidFill>
          <a:ln w="12700">
            <a:solidFill>
              <a:srgbClr val="9A7C3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33311" y="4059936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출원 검토 — 조약우선권 기한 내 의사결정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901184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77824" y="4901184"/>
            <a:ext cx="1043604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  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신고부터 보상·해외 출원까지 문서로 증빙되는 절차 확립 → 상장 심사·기술평가·정부 R&amp;D 대응이 가능한 지식재산 관리 체계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LEGAL BASIS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 근거 — 「발명진흥법」 조문별 사내 이행 사항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40719" y="32918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0719" y="329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|  연구기획팀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316736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68096" y="1490472"/>
            <a:ext cx="841248" cy="384048"/>
          </a:xfrm>
          <a:prstGeom prst="roundRect">
            <a:avLst>
              <a:gd name="adj" fmla="val 190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" y="1490472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제12조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146304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완성사실의 통지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151376" y="1463040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발명자는 발명 완성 시 지체 없이 회사에 서면 신고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759952" y="1472184"/>
            <a:ext cx="2871216" cy="420624"/>
          </a:xfrm>
          <a:prstGeom prst="roundRect">
            <a:avLst>
              <a:gd name="adj" fmla="val 17391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0" y="14721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신고서 제출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76272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2350008"/>
            <a:ext cx="841248" cy="384048"/>
          </a:xfrm>
          <a:prstGeom prst="roundRect">
            <a:avLst>
              <a:gd name="adj" fmla="val 190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2350008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제13조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2322576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여부의 통지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151376" y="232257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접수일부터 4개월 이내 승계 여부를 서면 통지 (시행령 제7조)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759952" y="2331720"/>
            <a:ext cx="2871216" cy="420624"/>
          </a:xfrm>
          <a:prstGeom prst="roundRect">
            <a:avLst>
              <a:gd name="adj" fmla="val 17391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69680" y="233172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심의·결과 통지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035808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68096" y="3209544"/>
            <a:ext cx="841248" cy="384048"/>
          </a:xfrm>
          <a:prstGeom prst="roundRect">
            <a:avLst>
              <a:gd name="adj" fmla="val 190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" y="320954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제15조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31821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직무발명에 대한 보상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4151376" y="3182112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승계 시 정당한 보상, 기준·절차를 규정으로 정하고 협의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59952" y="3191256"/>
            <a:ext cx="2871216" cy="420624"/>
          </a:xfrm>
          <a:prstGeom prst="roundRect">
            <a:avLst>
              <a:gd name="adj" fmla="val 17391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69680" y="319125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 제정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3895344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68096" y="4069080"/>
            <a:ext cx="841248" cy="384048"/>
          </a:xfrm>
          <a:prstGeom prst="roundRect">
            <a:avLst>
              <a:gd name="adj" fmla="val 190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8096" y="4069080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제16조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737360" y="404164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 유보 시의 보상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4151376" y="4041648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후 출원하지 않거나 포기한 경우에도 보상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759952" y="4050792"/>
            <a:ext cx="2871216" cy="420624"/>
          </a:xfrm>
          <a:prstGeom prst="roundRect">
            <a:avLst>
              <a:gd name="adj" fmla="val 17391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869680" y="4050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출원유보보상금 지급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66928" y="4754880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68096" y="4928616"/>
            <a:ext cx="841248" cy="384048"/>
          </a:xfrm>
          <a:prstGeom prst="roundRect">
            <a:avLst>
              <a:gd name="adj" fmla="val 190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8096" y="4928616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제19조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737360" y="490118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비밀유지의 의무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4151376" y="4901184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 시까지 발명 내용 비밀유지 (위반 시 제58조 벌칙)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759952" y="4910328"/>
            <a:ext cx="2871216" cy="420624"/>
          </a:xfrm>
          <a:prstGeom prst="roundRect">
            <a:avLst>
              <a:gd name="adj" fmla="val 17391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69680" y="491032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신고서 서약 · 양도계약 제7조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570585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「발명진흥법」 제13조에 따라 사전 승계 규정이 있는 경우 권리는 발명을 완성한 때부터 회사에 승계되며, 4개월 내 미승계를 통지하지 않으면 승계한 것으로 처리됩니다.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COMMITTEE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구성 및 운영(안)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40719" y="32918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0719" y="329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|  연구기획팀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1887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구성 (총 6인)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1499616"/>
            <a:ext cx="1749247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85977" y="1700784"/>
            <a:ext cx="512064" cy="512064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5977" y="17007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322576"/>
            <a:ext cx="1548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이성권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" y="2606040"/>
            <a:ext cx="1548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28646" y="1499616"/>
            <a:ext cx="1749247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047695" y="1700784"/>
            <a:ext cx="512064" cy="512064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47695" y="17007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529230" y="2322576"/>
            <a:ext cx="1548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전성학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529230" y="2606040"/>
            <a:ext cx="1548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부사장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0365" y="1499616"/>
            <a:ext cx="1749247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909414" y="1700784"/>
            <a:ext cx="512064" cy="512064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09414" y="17007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390949" y="2322576"/>
            <a:ext cx="1548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최창진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390949" y="2606040"/>
            <a:ext cx="1548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52083" y="1499616"/>
            <a:ext cx="1749247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771132" y="1700784"/>
            <a:ext cx="512064" cy="512064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71132" y="17007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252667" y="2322576"/>
            <a:ext cx="1548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이정민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252667" y="2606040"/>
            <a:ext cx="1548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실장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13802" y="1499616"/>
            <a:ext cx="1749247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632850" y="1700784"/>
            <a:ext cx="512064" cy="512064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32850" y="17007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8114386" y="2322576"/>
            <a:ext cx="1548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이태우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114386" y="2606040"/>
            <a:ext cx="1548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875520" y="1499616"/>
            <a:ext cx="1749247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494569" y="1700784"/>
            <a:ext cx="512064" cy="512064"/>
          </a:xfrm>
          <a:prstGeom prst="ellipse">
            <a:avLst/>
          </a:prstGeom>
          <a:solidFill>
            <a:srgbClr val="C8A96A"/>
          </a:solidFill>
          <a:ln w="12700">
            <a:solidFill>
              <a:srgbClr val="C8A96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94569" y="17007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976104" y="2322576"/>
            <a:ext cx="1548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배준호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9976104" y="2606040"/>
            <a:ext cx="1548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연구원 · 간사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31455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방식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66928" y="3456432"/>
            <a:ext cx="350215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22960" y="3657600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2960" y="36576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개최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" y="4078224"/>
            <a:ext cx="2990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 개최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344314" y="3456432"/>
            <a:ext cx="350215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00346" y="3657600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600346" y="36576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4600346" y="4078224"/>
            <a:ext cx="2990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발표 15분 + 질의응답 10분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8121701" y="3456432"/>
            <a:ext cx="350215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377733" y="3657600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377733" y="36576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의결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8377733" y="4078224"/>
            <a:ext cx="2990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재적위원 과반수 출석, 출석위원 과반수 찬성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(가부동수 시 위원장 결정)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66928" y="4828032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77824" y="4828032"/>
            <a:ext cx="1043604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직무발명의 승계·출원 여부 의결  ·  보상 등급(A/B/C) 결정  ·  기존 지식재산권의 연차료 및 유지·포기 판단  ·  해외 출원 대상 선정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특허심의위원회는 「발명진흥법」 제17조의 직무발명심의위원회(이의 제기 심의 기구)와는 별개의 사내 의사결정 기구입니다.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개선된 특허 출원·등록 프로세스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40719" y="32918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0719" y="329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|  연구기획팀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280160"/>
            <a:ext cx="350215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15179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1554480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발명신고서 제출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2121408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 → 연구기획팀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제12조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1847088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44314" y="1280160"/>
            <a:ext cx="350215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82058" y="15179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82058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48986" y="1554480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심의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582058" y="2121408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대면 발표 15분 + Q&amp;A 10분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시 보상 등급 동시 결정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846466" y="1847088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21701" y="1280160"/>
            <a:ext cx="350215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9445" y="15179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59445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926373" y="1554480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 · 등록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359445" y="2121408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건은 특허법률사무소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(주)차원에 의뢰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980944"/>
            <a:ext cx="350215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32186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3255264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양도계약서 날인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04672" y="3822192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특허를 받을 수 있는 권리 및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특허권 일체를 회사로 이전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069080" y="3547872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44314" y="2980944"/>
            <a:ext cx="350215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82058" y="32186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8205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148986" y="3255264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보상금 지급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4582058" y="3822192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보상규정(안)에 따라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출원·등록보상금 지급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846466" y="3547872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21701" y="2980944"/>
            <a:ext cx="350215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359445" y="32186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59445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926373" y="3255264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출원 여부 결정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8359445" y="3822192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출원일부터 12개월 이내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(조약우선권 주장 기한)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4754880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877824" y="4754880"/>
            <a:ext cx="1043604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양도계약서는 발명자가 퇴사 후 해당 발명에 대해 권리를 주장하는 것을 방지하고, 출원·등록 절차에 필요한 협력 의무를 확보하기 위한 것입니다.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출원 전까지 발명 내용은 비밀유지 대상입니다. (「발명진흥법」 제19조) — 논문·학회·전시 등 사전 공개 시 신규성 상실로 등록이 거절될 수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COMPENSATION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 — 보상 체계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40719" y="32918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0719" y="329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|  연구기획팀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80160"/>
          <a:ext cx="1105783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880360"/>
                <a:gridCol w="1947672"/>
                <a:gridCol w="1947672"/>
                <a:gridCol w="194767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보상 종류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A등급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B등급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C등급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329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출원보상금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324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출원일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A7C3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324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324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329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등록보상금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324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등록일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A7C3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324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324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329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출원유보보상금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324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유보·포기 결정일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A7C3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75만원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324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324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25만원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329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해외출원보상금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324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출원일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 / 국가   (등급 무관)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329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처분·실시보상금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324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 발생 연도 종료 후 3개월 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순수익의 10%   (등급 무관)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79392"/>
            <a:ext cx="1481328" cy="292608"/>
          </a:xfrm>
          <a:prstGeom prst="roundRect">
            <a:avLst>
              <a:gd name="adj" fmla="val 21875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" y="427939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1건 기준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194560" y="4279392"/>
            <a:ext cx="94302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발명자가 2명 이상인 경우 발명신고서의 기여율에 따라 분배하며, 합계액은 건당 보상액을 초과하지 않습니다.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66928" y="4681728"/>
            <a:ext cx="1481328" cy="292608"/>
          </a:xfrm>
          <a:prstGeom prst="roundRect">
            <a:avLst>
              <a:gd name="adj" fmla="val 21875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468172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출원보상금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194560" y="4681728"/>
            <a:ext cx="94302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여부와 무관하게 지급하며, 등록 거절·취하 시에도 회수하지 않습니다.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6928" y="5084064"/>
            <a:ext cx="1481328" cy="292608"/>
          </a:xfrm>
          <a:prstGeom prst="roundRect">
            <a:avLst>
              <a:gd name="adj" fmla="val 21875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928" y="508406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해외출원보상금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194560" y="5084064"/>
            <a:ext cx="94302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 1인당 연간 2개국 한도, 원칙적으로 A등급 발명을 우선 검토합니다.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5486400"/>
            <a:ext cx="1481328" cy="292608"/>
          </a:xfrm>
          <a:prstGeom prst="roundRect">
            <a:avLst>
              <a:gd name="adj" fmla="val 21875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" y="548640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 처리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194560" y="5486400"/>
            <a:ext cx="94302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「소득세법」 제12조제3호 어목에 따라 연간 700만원까지 비과세 (지배주주 등 특수관계인 임원 제외)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GRADING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등급 결정 기준 (규정(안) 제6조)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40719" y="32918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0719" y="329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|  연구기획팀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22529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항목 — 각 항목 1~5점, 20점 만점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1572768"/>
            <a:ext cx="685800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86384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25296" y="170078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연관성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25296" y="19842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제품·서비스(OFFen 등)에 이미 적용되었거나 적용이 확정되어 있는가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20256" y="1773936"/>
            <a:ext cx="585216" cy="36576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0256" y="1773936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468880"/>
            <a:ext cx="685800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86384" y="2670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2596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활용성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25296" y="2880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회피설계가 어렵고, 제3자의 침해를 외부에서 탐지·입증할 수 있는가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20256" y="2670048"/>
            <a:ext cx="585216" cy="36576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20256" y="267004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364992"/>
            <a:ext cx="685800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86384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25296" y="34930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독창성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225296" y="3776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선행기술 대비 차별성이 뚜렷하고 등록 가능성이 높은가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20256" y="3566160"/>
            <a:ext cx="585216" cy="36576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20256" y="356616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4261104"/>
            <a:ext cx="685800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86384" y="4462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25296" y="4389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대외 활용 가치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225296" y="46725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기술평가·인증·정부사업 가점·국가 R&amp;D 성과 활용 가치가 있는가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620256" y="4462272"/>
            <a:ext cx="585216" cy="36576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20256" y="4462272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699248" y="1225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환산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699248" y="1572768"/>
            <a:ext cx="3925519" cy="1069848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936992" y="1856232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C8A96A"/>
          </a:solidFill>
          <a:ln w="12700">
            <a:solidFill>
              <a:srgbClr val="C8A96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936992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577072" y="17556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16점 이상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8577072" y="202996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특허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577072" y="22677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출원 및 사업화 연계 우선 검토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99248" y="2770632"/>
            <a:ext cx="3925519" cy="1069848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936992" y="3054096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2C5282"/>
          </a:solidFill>
          <a:ln w="12700">
            <a:solidFill>
              <a:srgbClr val="2C528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36992" y="3054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8577072" y="29535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~ 15점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577072" y="32278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2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연계 특허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8577072" y="34655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제품·서비스와 직접 연관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699248" y="3968496"/>
            <a:ext cx="3925519" cy="1069848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936992" y="4251960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936992" y="4251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1800" dirty="0"/>
          </a:p>
        </p:txBody>
      </p:sp>
      <p:sp>
        <p:nvSpPr>
          <p:cNvPr id="48" name="Text 46"/>
          <p:cNvSpPr txBox="1"/>
          <p:nvPr/>
        </p:nvSpPr>
        <p:spPr>
          <a:xfrm>
            <a:off x="8577072" y="41513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10점 이하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577072" y="4425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방어·포트폴리오 특허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8577072" y="4663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기술평가 및 권리 방어 목적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566928" y="523036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각 위원이 항목별로 채점하고 위원 채점의 평균값(소수점 첫째 자리 반올림)으로 등급을 결정하며, 등급 결정 결과와 항목별 점수는 발명자에게 서면 통지합니다.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DOCUMENTS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 완료 서식 4종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40719" y="32918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0719" y="329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|  연구기획팀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316736"/>
            <a:ext cx="2596896" cy="3163824"/>
          </a:xfrm>
          <a:prstGeom prst="roundRect">
            <a:avLst>
              <a:gd name="adj" fmla="val 2113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591056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15910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267712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신고서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2871216"/>
            <a:ext cx="1700784" cy="274320"/>
          </a:xfrm>
          <a:prstGeom prst="roundRect">
            <a:avLst>
              <a:gd name="adj" fmla="val 23333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871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제12조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291840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완성사실 통지 · 발명자와 기여율 확정 · 외부 공개 이력 및 국가 R&amp;D 연계 확인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6938" y="1316736"/>
            <a:ext cx="2596896" cy="3163824"/>
          </a:xfrm>
          <a:prstGeom prst="roundRect">
            <a:avLst>
              <a:gd name="adj" fmla="val 2113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42970" y="1591056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42970" y="15910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642970" y="2267712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42970" y="2871216"/>
            <a:ext cx="1700784" cy="274320"/>
          </a:xfrm>
          <a:prstGeom prst="roundRect">
            <a:avLst>
              <a:gd name="adj" fmla="val 23333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42970" y="2871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제15조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642970" y="3291840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보상의 종류·금액·지급 방법 규정 · 등급(A/B/C) 및 세무 처리 기준 명문화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06947" y="1316736"/>
            <a:ext cx="2596896" cy="3163824"/>
          </a:xfrm>
          <a:prstGeom prst="roundRect">
            <a:avLst>
              <a:gd name="adj" fmla="val 2113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62979" y="1591056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62979" y="15910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62979" y="2267712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등급 평가표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62979" y="2871216"/>
            <a:ext cx="1700784" cy="274320"/>
          </a:xfrm>
          <a:prstGeom prst="roundRect">
            <a:avLst>
              <a:gd name="adj" fmla="val 23333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62979" y="2871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제6조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462979" y="3291840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위원별 채점지 · 항목별 점수 기준 · 가결/부결/보류 의견 및 사유 기재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26957" y="1316736"/>
            <a:ext cx="2596896" cy="3163824"/>
          </a:xfrm>
          <a:prstGeom prst="roundRect">
            <a:avLst>
              <a:gd name="adj" fmla="val 2113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282989" y="1591056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82989" y="15910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282989" y="2267712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특허권 양도계약서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9282989" y="2871216"/>
            <a:ext cx="1700784" cy="274320"/>
          </a:xfrm>
          <a:prstGeom prst="roundRect">
            <a:avLst>
              <a:gd name="adj" fmla="val 23333"/>
            </a:avLst>
          </a:prstGeom>
          <a:solidFill>
            <a:srgbClr val="EEF2F8"/>
          </a:solidFill>
          <a:ln w="12700">
            <a:solidFill>
              <a:srgbClr val="D7DF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82989" y="2871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제13조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282989" y="3291840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승계 확인 · 퇴사 후 권리 주장 방지 · 절차 협력 및 비밀유지 의무 확보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66928" y="4718304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877824" y="4718304"/>
            <a:ext cx="1043604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필요  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4종 모두 초안 작성 완료 — 승인 후 사내 규정으로 확정하고, 보상규정(안)은 임직원 협의를 거쳐 시행합니다.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AGENDA (1st)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안건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40719" y="32918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0719" y="329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|  연구기획팀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298448"/>
            <a:ext cx="7589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86384" y="149047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145389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추진 목적 및 운영 방안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1755648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배경 · 위원 구성 · 의결 방식 확정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267712"/>
            <a:ext cx="7589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86384" y="245973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2459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42316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보유 지식재산권 마감일 알림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72491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/ 출원 건별 연차료 및 기한 공유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236976"/>
            <a:ext cx="7589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86384" y="34290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39242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기준(안) 검토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694176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및 등급 평가표 심의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206240"/>
            <a:ext cx="7589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86384" y="439826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398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36168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 아이디어 발표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66344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15분 + 질의응답 10분 · 승계 여부 의결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430768" y="1298448"/>
            <a:ext cx="3193999" cy="1883664"/>
          </a:xfrm>
          <a:prstGeom prst="roundRect">
            <a:avLst>
              <a:gd name="adj" fmla="val 2913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705088" y="1536192"/>
            <a:ext cx="26453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특이 사항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705088" y="1901952"/>
            <a:ext cx="2645359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연구원의 아이디어는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대표님 구두 컨펌이 완료된 건으로,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위원회에서 정식 심의 절차를 거쳐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승계·출원 및 보상 등급을 의결합니다.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430768" y="3364992"/>
            <a:ext cx="3193999" cy="1847088"/>
          </a:xfrm>
          <a:prstGeom prst="roundRect">
            <a:avLst>
              <a:gd name="adj" fmla="val 297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705088" y="3584448"/>
            <a:ext cx="26453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방식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705088" y="3950208"/>
            <a:ext cx="2645359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발표 15분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질의응답 10분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위원별 평가표 채점 후 등급 결정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시 (주)차원에 출원 의뢰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7C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 CONTROLS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운영상 관리 포인트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40719" y="32918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0719" y="329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|  연구기획팀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316736"/>
            <a:ext cx="3502152" cy="1865376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55448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1554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4개월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066544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통지 기한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395728"/>
            <a:ext cx="2990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접수일부터 4개월 이내 승계 여부를 서면 통지해야 하며, 미통지 시 권리 승계를 포기한 것으로 봅니다. (제13조·시행령 제7조)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4314" y="1316736"/>
            <a:ext cx="3502152" cy="1865376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0346" y="155448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00346" y="1554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0346" y="2066544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조약우선권 기한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600346" y="2395728"/>
            <a:ext cx="2990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출원일부터 12개월 이내에 해외 출원 여부를 결정해야 우선권 주장이 가능합니다.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21701" y="1316736"/>
            <a:ext cx="3502152" cy="1865376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77733" y="155448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77733" y="1554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700만원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77733" y="2066544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보상금 비과세 한도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377733" y="2395728"/>
            <a:ext cx="2990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700만원까지 비과세되므로, 동일 발명자의 연간 누적 지급액을 지급 전 확인합니다. (「소득세법」)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3401568"/>
            <a:ext cx="3502152" cy="1865376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363931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36393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제19조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151376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 전 비밀유지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480560"/>
            <a:ext cx="2990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논문·학회·전시 등 사전 공개 시 신규성 상실로 거절될 수 있으며, 위반 시 제58조에 따른 처벌 대상입니다.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44314" y="3401568"/>
            <a:ext cx="3502152" cy="1865376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00346" y="363931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00346" y="36393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제15조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0346" y="4151376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제정 절차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600346" y="4480560"/>
            <a:ext cx="2990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보상규정은 임직원과 협의하여 작성하며, 불리하게 변경할 경우 과반수 동의가 필요합니다.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121701" y="3401568"/>
            <a:ext cx="3502152" cy="1865376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sx="100000" sy="100000" kx="0" ky="0" algn="bl" rotWithShape="0" blurRad="127000" dist="12700" dir="5400000">
              <a:srgbClr val="9AABC4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377733" y="363931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77733" y="36393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기구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377733" y="4151376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이의 제기 대응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8377733" y="4480560"/>
            <a:ext cx="2990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632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보상에 이의가 있는 경우 「발명진흥법」 제17조의 직무발명심의위원회를 별도로 구성하여 심의합니다.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55778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위 기한은 모두 연구기획팀이 발명 신고 접수 시점부터 관리하며, 위원회 개최 시 마감 임박 건을 안건으로 보고합니다.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1F3E63"/>
          </a:solidFill>
          <a:ln w="12700">
            <a:solidFill>
              <a:srgbClr val="1F3E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6692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 FOR APPROVAL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22960"/>
            <a:ext cx="9144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요청 및 후속 조치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1F3E63"/>
          </a:solidFill>
          <a:ln w="12700">
            <a:solidFill>
              <a:srgbClr val="2E51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1051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8A96A"/>
          </a:solidFill>
          <a:ln w="12700">
            <a:solidFill>
              <a:srgbClr val="C8A9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773936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 승인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10312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0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 · 수시 개최 · 과반수 의결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615184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1F3E63"/>
          </a:solidFill>
          <a:ln w="12700">
            <a:solidFill>
              <a:srgbClr val="2E517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8529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8A96A"/>
          </a:solidFill>
          <a:ln w="12700">
            <a:solidFill>
              <a:srgbClr val="C8A96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8163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 및 서식 4종 승인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145536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0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보상금 기준 · 신고서 · 평가표 · 양도계약서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57600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1F3E63"/>
          </a:solidFill>
          <a:ln w="12700">
            <a:solidFill>
              <a:srgbClr val="2E517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38953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8A96A"/>
          </a:solidFill>
          <a:ln w="12700">
            <a:solidFill>
              <a:srgbClr val="C8A96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3895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858768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개최 승인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18795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0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4건 (운영 방안 · 기한 관리 · 보상 기준 · 아이디어 심의)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864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후속 조치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2596896" cy="566928"/>
          </a:xfrm>
          <a:prstGeom prst="roundRect">
            <a:avLst>
              <a:gd name="adj" fmla="val 12903"/>
            </a:avLst>
          </a:prstGeom>
          <a:solidFill>
            <a:srgbClr val="1F3E63"/>
          </a:solidFill>
          <a:ln w="12700">
            <a:solidFill>
              <a:srgbClr val="2E517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" y="5193792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규정(안) 임직원 협의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3163824" y="5193792"/>
            <a:ext cx="201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86938" y="5193792"/>
            <a:ext cx="2596896" cy="566928"/>
          </a:xfrm>
          <a:prstGeom prst="roundRect">
            <a:avLst>
              <a:gd name="adj" fmla="val 12903"/>
            </a:avLst>
          </a:prstGeom>
          <a:solidFill>
            <a:srgbClr val="1F3E63"/>
          </a:solidFill>
          <a:ln w="12700">
            <a:solidFill>
              <a:srgbClr val="2E517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14954" y="5193792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제1회 위원회 개최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983834" y="5193792"/>
            <a:ext cx="201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06947" y="5193792"/>
            <a:ext cx="2596896" cy="566928"/>
          </a:xfrm>
          <a:prstGeom prst="roundRect">
            <a:avLst>
              <a:gd name="adj" fmla="val 12903"/>
            </a:avLst>
          </a:prstGeom>
          <a:solidFill>
            <a:srgbClr val="1F3E63"/>
          </a:solidFill>
          <a:ln w="12700">
            <a:solidFill>
              <a:srgbClr val="2E517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34963" y="5193792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규정 제정 · 시행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803843" y="5193792"/>
            <a:ext cx="201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A9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026957" y="5193792"/>
            <a:ext cx="2596896" cy="566928"/>
          </a:xfrm>
          <a:prstGeom prst="roundRect">
            <a:avLst>
              <a:gd name="adj" fmla="val 12903"/>
            </a:avLst>
          </a:prstGeom>
          <a:solidFill>
            <a:srgbClr val="1F3E63"/>
          </a:solidFill>
          <a:ln w="12700">
            <a:solidFill>
              <a:srgbClr val="2E517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54973" y="5193792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발명 신고 상시 접수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34593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|  연구기획팀  |  2026. 9. 4.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특허심의위원회 설치·운영(안)</dc:title>
  <dc:subject>PptxGenJS Presentation</dc:subject>
  <dc:creator>㈜엔키화이트햇 연구기획팀</dc:creator>
  <cp:lastModifiedBy>㈜엔키화이트햇 연구기획팀</cp:lastModifiedBy>
  <cp:revision>1</cp:revision>
  <dcterms:created xsi:type="dcterms:W3CDTF">2026-09-04T02:44:26Z</dcterms:created>
  <dcterms:modified xsi:type="dcterms:W3CDTF">2026-09-04T02:44:26Z</dcterms:modified>
</cp:coreProperties>
</file>